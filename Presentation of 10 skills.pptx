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8" r:id="rId3"/>
    <p:sldId id="256" r:id="rId5"/>
    <p:sldId id="258" r:id="rId6"/>
    <p:sldId id="281" r:id="rId7"/>
    <p:sldId id="259" r:id="rId8"/>
    <p:sldId id="264" r:id="rId9"/>
    <p:sldId id="266" r:id="rId10"/>
    <p:sldId id="267" r:id="rId11"/>
    <p:sldId id="268" r:id="rId12"/>
    <p:sldId id="265" r:id="rId13"/>
    <p:sldId id="270" r:id="rId14"/>
    <p:sldId id="263" r:id="rId15"/>
    <p:sldId id="271" r:id="rId16"/>
    <p:sldId id="273" r:id="rId17"/>
    <p:sldId id="275" r:id="rId18"/>
    <p:sldId id="278" r:id="rId19"/>
    <p:sldId id="277" r:id="rId20"/>
    <p:sldId id="280" r:id="rId21"/>
    <p:sldId id="286" r:id="rId22"/>
    <p:sldId id="288" r:id="rId23"/>
    <p:sldId id="287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1"/>
    <p:restoredTop sz="94660"/>
  </p:normalViewPr>
  <p:slideViewPr>
    <p:cSldViewPr snapToGrid="0" snapToObjects="1">
      <p:cViewPr varScale="1">
        <p:scale>
          <a:sx n="170" d="100"/>
          <a:sy n="170" d="100"/>
        </p:scale>
        <p:origin x="37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6505B-9046-6346-A19D-6DC0CF59157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18A514-C914-654D-929A-F5C8E606023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69FF521-3987-4885-B17F-ABB8F6CC9C3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01E0BBF-C5AE-4848-B243-45BC9FF36F0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fld id="{1018A514-C914-654D-929A-F5C8E606023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F76E5AD-7694-4157-B202-257B220A45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5A55F4F-70E8-41D7-9B76-EFC761785A5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3D958DD-6323-4189-B15D-FB66C14B1F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E54572-D71E-455D-912E-F9219295FC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E54572-D71E-455D-912E-F9219295FC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E54572-D71E-455D-912E-F9219295FC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67D48BE-3D39-461C-91B3-836FAE1AA22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CC95314-7567-4C1F-9983-74C61F3756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D109191-43CE-44B8-9C95-0A5AF59A0CA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D74412-DC75-4F0C-A008-6BFDF4E9AED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9250A2-F7BF-4F22-8704-B730C321CBF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9250A2-F7BF-4F22-8704-B730C321CBF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39954DF-2217-4FE9-B0B9-1EE8A47369D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06A49AC-020C-478A-AE0C-B722C307BF0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7FBC67D-4732-4608-A7C4-87AD74692C0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EE2C2AD-5C98-40EB-9F31-0A664D83431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23FA39A-E091-4900-A30C-648AE65523E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0FF7946-5573-472D-99FC-D060063F7E6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9BFD46F-CB72-46A5-8C28-ED5FEFCC92B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D627011-1486-4203-B786-E61409C7D0A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7D47B2-92C4-42E4-A6EF-97D453A092E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00DD5F2-6397-4139-8085-455A4BE7386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D5663ED-011D-4605-BF87-95BB6AAAF9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F56E7D9-F83E-4992-AD7F-7AA7E7800D6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1B99D6E-C7B7-424B-B37E-7A66928EB94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B8FF4A9-E3EE-4CA7-BA64-5778882BE76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>
            <a:spLocks noChangeAspect="1"/>
          </p:cNvSpPr>
          <p:nvPr userDrawn="1"/>
        </p:nvSpPr>
        <p:spPr>
          <a:xfrm>
            <a:off x="2100000" y="-567000"/>
            <a:ext cx="7992000" cy="7992000"/>
          </a:xfrm>
          <a:prstGeom prst="ellipse">
            <a:avLst/>
          </a:prstGeom>
          <a:solidFill>
            <a:schemeClr val="accent6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978374" y="2815393"/>
            <a:ext cx="8235253" cy="7940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978375" y="3762733"/>
            <a:ext cx="8235252" cy="530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4" name="Групиране 3"/>
          <p:cNvGrpSpPr/>
          <p:nvPr/>
        </p:nvGrpSpPr>
        <p:grpSpPr>
          <a:xfrm>
            <a:off x="974370" y="-215618"/>
            <a:ext cx="2952521" cy="2952521"/>
            <a:chOff x="974370" y="-215618"/>
            <a:chExt cx="2952521" cy="2952521"/>
          </a:xfrm>
        </p:grpSpPr>
        <p:sp>
          <p:nvSpPr>
            <p:cNvPr id="12" name="Oval 11"/>
            <p:cNvSpPr/>
            <p:nvPr userDrawn="1"/>
          </p:nvSpPr>
          <p:spPr>
            <a:xfrm>
              <a:off x="1177761" y="-12227"/>
              <a:ext cx="2545739" cy="2545739"/>
            </a:xfrm>
            <a:prstGeom prst="ellipse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/>
            <p:cNvSpPr/>
            <p:nvPr userDrawn="1"/>
          </p:nvSpPr>
          <p:spPr>
            <a:xfrm>
              <a:off x="1379307" y="189319"/>
              <a:ext cx="2142649" cy="21426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/>
            <p:cNvSpPr/>
            <p:nvPr userDrawn="1"/>
          </p:nvSpPr>
          <p:spPr>
            <a:xfrm>
              <a:off x="974370" y="-215618"/>
              <a:ext cx="2952521" cy="2952521"/>
            </a:xfrm>
            <a:prstGeom prst="ellipse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Групиране 4"/>
          <p:cNvGrpSpPr/>
          <p:nvPr/>
        </p:nvGrpSpPr>
        <p:grpSpPr>
          <a:xfrm>
            <a:off x="8810218" y="3886006"/>
            <a:ext cx="4573286" cy="4573286"/>
            <a:chOff x="8810218" y="3886006"/>
            <a:chExt cx="4573286" cy="4573286"/>
          </a:xfrm>
        </p:grpSpPr>
        <p:sp>
          <p:nvSpPr>
            <p:cNvPr id="29" name="Oval 28"/>
            <p:cNvSpPr/>
            <p:nvPr userDrawn="1"/>
          </p:nvSpPr>
          <p:spPr>
            <a:xfrm>
              <a:off x="9125259" y="4201047"/>
              <a:ext cx="3943204" cy="3943204"/>
            </a:xfrm>
            <a:prstGeom prst="ellipse">
              <a:avLst/>
            </a:prstGeom>
            <a:noFill/>
            <a:ln w="127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/>
            <p:cNvSpPr/>
            <p:nvPr userDrawn="1"/>
          </p:nvSpPr>
          <p:spPr>
            <a:xfrm>
              <a:off x="9437441" y="4513229"/>
              <a:ext cx="3318840" cy="3318840"/>
            </a:xfrm>
            <a:prstGeom prst="ellipse">
              <a:avLst/>
            </a:prstGeom>
            <a:noFill/>
            <a:ln w="127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 userDrawn="1"/>
          </p:nvSpPr>
          <p:spPr>
            <a:xfrm>
              <a:off x="8810218" y="3886006"/>
              <a:ext cx="4573286" cy="4573286"/>
            </a:xfrm>
            <a:prstGeom prst="ellipse">
              <a:avLst/>
            </a:prstGeom>
            <a:noFill/>
            <a:ln w="127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>
            <a:spLocks noChangeAspect="1"/>
          </p:cNvSpPr>
          <p:nvPr userDrawn="1"/>
        </p:nvSpPr>
        <p:spPr>
          <a:xfrm>
            <a:off x="2100000" y="-567000"/>
            <a:ext cx="7992000" cy="799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43903" y="-1923097"/>
            <a:ext cx="10704194" cy="10704194"/>
            <a:chOff x="969646" y="-1697354"/>
            <a:chExt cx="10252709" cy="10252709"/>
          </a:xfrm>
        </p:grpSpPr>
        <p:sp>
          <p:nvSpPr>
            <p:cNvPr id="14" name="Oval 13"/>
            <p:cNvSpPr>
              <a:spLocks noChangeAspect="1"/>
            </p:cNvSpPr>
            <p:nvPr userDrawn="1"/>
          </p:nvSpPr>
          <p:spPr>
            <a:xfrm>
              <a:off x="1925334" y="-741666"/>
              <a:ext cx="8341335" cy="8341335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/>
            <p:cNvSpPr>
              <a:spLocks noChangeAspect="1"/>
            </p:cNvSpPr>
            <p:nvPr userDrawn="1"/>
          </p:nvSpPr>
          <p:spPr>
            <a:xfrm>
              <a:off x="1482091" y="-1184909"/>
              <a:ext cx="9227819" cy="922781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>
              <a:spLocks noChangeAspect="1"/>
            </p:cNvSpPr>
            <p:nvPr userDrawn="1"/>
          </p:nvSpPr>
          <p:spPr>
            <a:xfrm>
              <a:off x="969646" y="-1697354"/>
              <a:ext cx="10252709" cy="1025270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itle 1"/>
          <p:cNvSpPr>
            <a:spLocks noGrp="1" noEditPoints="1"/>
          </p:cNvSpPr>
          <p:nvPr>
            <p:ph type="ctrTitle"/>
          </p:nvPr>
        </p:nvSpPr>
        <p:spPr>
          <a:xfrm>
            <a:off x="1978374" y="2815393"/>
            <a:ext cx="8235253" cy="7940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978375" y="3762733"/>
            <a:ext cx="8235252" cy="530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-1056692" y="1324369"/>
            <a:ext cx="4752392" cy="4752392"/>
            <a:chOff x="175209" y="772760"/>
            <a:chExt cx="1958391" cy="1958391"/>
          </a:xfrm>
        </p:grpSpPr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508656" y="1106207"/>
              <a:ext cx="1291496" cy="1291496"/>
            </a:xfrm>
            <a:prstGeom prst="ellipse">
              <a:avLst/>
            </a:pr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>
              <a:spLocks noChangeAspect="1"/>
            </p:cNvSpPr>
            <p:nvPr userDrawn="1"/>
          </p:nvSpPr>
          <p:spPr>
            <a:xfrm>
              <a:off x="340507" y="938058"/>
              <a:ext cx="1627794" cy="1627794"/>
            </a:xfrm>
            <a:prstGeom prst="ellipse">
              <a:avLst/>
            </a:pr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/>
            <p:cNvSpPr>
              <a:spLocks noChangeAspect="1"/>
            </p:cNvSpPr>
            <p:nvPr userDrawn="1"/>
          </p:nvSpPr>
          <p:spPr>
            <a:xfrm>
              <a:off x="175209" y="772760"/>
              <a:ext cx="1958391" cy="1958391"/>
            </a:xfrm>
            <a:prstGeom prst="ellipse">
              <a:avLst/>
            </a:pr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996368" y="3084952"/>
            <a:ext cx="9671632" cy="123195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355392" y="5199"/>
            <a:ext cx="6071560" cy="6071560"/>
            <a:chOff x="1189370" y="-1477630"/>
            <a:chExt cx="9813261" cy="9813261"/>
          </a:xfrm>
        </p:grpSpPr>
        <p:sp>
          <p:nvSpPr>
            <p:cNvPr id="10" name="Oval 9"/>
            <p:cNvSpPr>
              <a:spLocks noChangeAspect="1"/>
            </p:cNvSpPr>
            <p:nvPr userDrawn="1"/>
          </p:nvSpPr>
          <p:spPr>
            <a:xfrm>
              <a:off x="2191571" y="-475429"/>
              <a:ext cx="7808859" cy="780885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189370" y="-1477630"/>
              <a:ext cx="9813261" cy="9813261"/>
              <a:chOff x="969646" y="-1697354"/>
              <a:chExt cx="10252709" cy="10252709"/>
            </a:xfrm>
          </p:grpSpPr>
          <p:sp>
            <p:nvSpPr>
              <p:cNvPr id="14" name="Oval 13"/>
              <p:cNvSpPr>
                <a:spLocks noChangeAspect="1"/>
              </p:cNvSpPr>
              <p:nvPr userDrawn="1"/>
            </p:nvSpPr>
            <p:spPr>
              <a:xfrm>
                <a:off x="1735800" y="-931200"/>
                <a:ext cx="8720400" cy="8720400"/>
              </a:xfrm>
              <a:prstGeom prst="ellipse">
                <a:avLst/>
              </a:prstGeom>
              <a:noFill/>
              <a:ln w="3175"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/>
              <p:cNvSpPr>
                <a:spLocks noChangeAspect="1"/>
              </p:cNvSpPr>
              <p:nvPr userDrawn="1"/>
            </p:nvSpPr>
            <p:spPr>
              <a:xfrm>
                <a:off x="1386024" y="-1280976"/>
                <a:ext cx="9419953" cy="9419953"/>
              </a:xfrm>
              <a:prstGeom prst="ellipse">
                <a:avLst/>
              </a:prstGeom>
              <a:noFill/>
              <a:ln w="3175"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/>
              <p:cNvSpPr>
                <a:spLocks noChangeAspect="1"/>
              </p:cNvSpPr>
              <p:nvPr userDrawn="1"/>
            </p:nvSpPr>
            <p:spPr>
              <a:xfrm>
                <a:off x="969646" y="-1697354"/>
                <a:ext cx="10252709" cy="10252709"/>
              </a:xfrm>
              <a:prstGeom prst="ellipse">
                <a:avLst/>
              </a:prstGeom>
              <a:noFill/>
              <a:ln w="3175"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135293" y="1028414"/>
            <a:ext cx="1590091" cy="1590091"/>
            <a:chOff x="175209" y="772760"/>
            <a:chExt cx="1958391" cy="1958391"/>
          </a:xfrm>
        </p:grpSpPr>
        <p:sp>
          <p:nvSpPr>
            <p:cNvPr id="24" name="Oval 23"/>
            <p:cNvSpPr>
              <a:spLocks noChangeAspect="1"/>
            </p:cNvSpPr>
            <p:nvPr userDrawn="1"/>
          </p:nvSpPr>
          <p:spPr>
            <a:xfrm>
              <a:off x="508656" y="1106207"/>
              <a:ext cx="1291496" cy="1291496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/>
            <p:cNvSpPr>
              <a:spLocks noChangeAspect="1"/>
            </p:cNvSpPr>
            <p:nvPr userDrawn="1"/>
          </p:nvSpPr>
          <p:spPr>
            <a:xfrm>
              <a:off x="340507" y="938058"/>
              <a:ext cx="1627794" cy="1627794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/>
            <p:cNvSpPr>
              <a:spLocks noChangeAspect="1"/>
            </p:cNvSpPr>
            <p:nvPr userDrawn="1"/>
          </p:nvSpPr>
          <p:spPr>
            <a:xfrm>
              <a:off x="175209" y="772760"/>
              <a:ext cx="1958391" cy="1958391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6625724" cy="123195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6625724" cy="25248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2"/>
          <p:cNvGrpSpPr/>
          <p:nvPr/>
        </p:nvGrpSpPr>
        <p:grpSpPr>
          <a:xfrm>
            <a:off x="135293" y="1028414"/>
            <a:ext cx="1590091" cy="1590091"/>
            <a:chOff x="175209" y="772760"/>
            <a:chExt cx="1958391" cy="1958391"/>
          </a:xfrm>
        </p:grpSpPr>
        <p:sp>
          <p:nvSpPr>
            <p:cNvPr id="13" name="Oval 23"/>
            <p:cNvSpPr>
              <a:spLocks noChangeAspect="1"/>
            </p:cNvSpPr>
            <p:nvPr userDrawn="1"/>
          </p:nvSpPr>
          <p:spPr>
            <a:xfrm>
              <a:off x="508656" y="1106207"/>
              <a:ext cx="1291496" cy="1291496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24"/>
            <p:cNvSpPr>
              <a:spLocks noChangeAspect="1"/>
            </p:cNvSpPr>
            <p:nvPr userDrawn="1"/>
          </p:nvSpPr>
          <p:spPr>
            <a:xfrm>
              <a:off x="340507" y="938058"/>
              <a:ext cx="1627794" cy="1627794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25"/>
            <p:cNvSpPr>
              <a:spLocks noChangeAspect="1"/>
            </p:cNvSpPr>
            <p:nvPr userDrawn="1"/>
          </p:nvSpPr>
          <p:spPr>
            <a:xfrm>
              <a:off x="175209" y="772760"/>
              <a:ext cx="1958391" cy="1958391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6625724" cy="123195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6625724" cy="25248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/>
          <p:cNvGrpSpPr/>
          <p:nvPr/>
        </p:nvGrpSpPr>
        <p:grpSpPr>
          <a:xfrm>
            <a:off x="7355392" y="5199"/>
            <a:ext cx="6071560" cy="6071560"/>
            <a:chOff x="1189370" y="-1477630"/>
            <a:chExt cx="9813261" cy="9813261"/>
          </a:xfrm>
        </p:grpSpPr>
        <p:sp>
          <p:nvSpPr>
            <p:cNvPr id="29" name="Oval 9"/>
            <p:cNvSpPr>
              <a:spLocks noChangeAspect="1"/>
            </p:cNvSpPr>
            <p:nvPr userDrawn="1"/>
          </p:nvSpPr>
          <p:spPr>
            <a:xfrm>
              <a:off x="2191571" y="-475429"/>
              <a:ext cx="7808859" cy="780885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0" name="Group 3"/>
            <p:cNvGrpSpPr/>
            <p:nvPr/>
          </p:nvGrpSpPr>
          <p:grpSpPr>
            <a:xfrm>
              <a:off x="1189370" y="-1477630"/>
              <a:ext cx="9813261" cy="9813261"/>
              <a:chOff x="969646" y="-1697354"/>
              <a:chExt cx="10252709" cy="10252709"/>
            </a:xfrm>
          </p:grpSpPr>
          <p:sp>
            <p:nvSpPr>
              <p:cNvPr id="31" name="Oval 13"/>
              <p:cNvSpPr>
                <a:spLocks noChangeAspect="1"/>
              </p:cNvSpPr>
              <p:nvPr userDrawn="1"/>
            </p:nvSpPr>
            <p:spPr>
              <a:xfrm>
                <a:off x="1735800" y="-931200"/>
                <a:ext cx="8720400" cy="8720400"/>
              </a:xfrm>
              <a:prstGeom prst="ellipse">
                <a:avLst/>
              </a:prstGeom>
              <a:noFill/>
              <a:ln w="3175"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16"/>
              <p:cNvSpPr>
                <a:spLocks noChangeAspect="1"/>
              </p:cNvSpPr>
              <p:nvPr userDrawn="1"/>
            </p:nvSpPr>
            <p:spPr>
              <a:xfrm>
                <a:off x="1386024" y="-1280976"/>
                <a:ext cx="9419953" cy="9419953"/>
              </a:xfrm>
              <a:prstGeom prst="ellipse">
                <a:avLst/>
              </a:prstGeom>
              <a:noFill/>
              <a:ln w="3175"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19"/>
              <p:cNvSpPr>
                <a:spLocks noChangeAspect="1"/>
              </p:cNvSpPr>
              <p:nvPr userDrawn="1"/>
            </p:nvSpPr>
            <p:spPr>
              <a:xfrm>
                <a:off x="969646" y="-1697354"/>
                <a:ext cx="10252709" cy="10252709"/>
              </a:xfrm>
              <a:prstGeom prst="ellipse">
                <a:avLst/>
              </a:prstGeom>
              <a:noFill/>
              <a:ln w="3175">
                <a:solidFill>
                  <a:schemeClr val="accent6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4" name="Group 22"/>
          <p:cNvGrpSpPr/>
          <p:nvPr/>
        </p:nvGrpSpPr>
        <p:grpSpPr>
          <a:xfrm>
            <a:off x="135293" y="1028414"/>
            <a:ext cx="1590091" cy="1590091"/>
            <a:chOff x="175209" y="772760"/>
            <a:chExt cx="1958391" cy="1958391"/>
          </a:xfrm>
        </p:grpSpPr>
        <p:sp>
          <p:nvSpPr>
            <p:cNvPr id="25" name="Oval 23"/>
            <p:cNvSpPr>
              <a:spLocks noChangeAspect="1"/>
            </p:cNvSpPr>
            <p:nvPr userDrawn="1"/>
          </p:nvSpPr>
          <p:spPr>
            <a:xfrm>
              <a:off x="508656" y="1106207"/>
              <a:ext cx="1291496" cy="1291496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4"/>
            <p:cNvSpPr>
              <a:spLocks noChangeAspect="1"/>
            </p:cNvSpPr>
            <p:nvPr userDrawn="1"/>
          </p:nvSpPr>
          <p:spPr>
            <a:xfrm>
              <a:off x="340507" y="938058"/>
              <a:ext cx="1627794" cy="1627794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5"/>
            <p:cNvSpPr>
              <a:spLocks noChangeAspect="1"/>
            </p:cNvSpPr>
            <p:nvPr userDrawn="1"/>
          </p:nvSpPr>
          <p:spPr>
            <a:xfrm>
              <a:off x="175209" y="772760"/>
              <a:ext cx="1958391" cy="1958391"/>
            </a:xfrm>
            <a:prstGeom prst="ellipse">
              <a:avLst/>
            </a:prstGeom>
            <a:noFill/>
            <a:ln w="9525">
              <a:solidFill>
                <a:schemeClr val="accent6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6512902" cy="123195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" name="Text Placeholder 18"/>
          <p:cNvSpPr>
            <a:spLocks noGrp="1" noEditPoints="1"/>
          </p:cNvSpPr>
          <p:nvPr userDrawn="1">
            <p:ph type="body" sz="quarter" idx="11"/>
          </p:nvPr>
        </p:nvSpPr>
        <p:spPr>
          <a:xfrm>
            <a:off x="4125913" y="2930878"/>
            <a:ext cx="3116262" cy="25066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None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21"/>
          <p:cNvSpPr>
            <a:spLocks noGrp="1" noEditPoints="1"/>
          </p:cNvSpPr>
          <p:nvPr userDrawn="1">
            <p:ph type="body" sz="quarter" idx="12"/>
          </p:nvPr>
        </p:nvSpPr>
        <p:spPr>
          <a:xfrm>
            <a:off x="730250" y="2930879"/>
            <a:ext cx="3149088" cy="25066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>
              <a:buFontTx/>
              <a:buNone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Blank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6"/>
          <p:cNvGrpSpPr/>
          <p:nvPr/>
        </p:nvGrpSpPr>
        <p:grpSpPr>
          <a:xfrm>
            <a:off x="-373399" y="-3040399"/>
            <a:ext cx="12938799" cy="12938799"/>
            <a:chOff x="743903" y="-1923097"/>
            <a:chExt cx="10704194" cy="10704194"/>
          </a:xfrm>
        </p:grpSpPr>
        <p:sp>
          <p:nvSpPr>
            <p:cNvPr id="23" name="Oval 9"/>
            <p:cNvSpPr>
              <a:spLocks noChangeAspect="1"/>
            </p:cNvSpPr>
            <p:nvPr userDrawn="1"/>
          </p:nvSpPr>
          <p:spPr>
            <a:xfrm>
              <a:off x="2100000" y="-567000"/>
              <a:ext cx="7992000" cy="7992000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Group 3"/>
            <p:cNvGrpSpPr/>
            <p:nvPr/>
          </p:nvGrpSpPr>
          <p:grpSpPr>
            <a:xfrm>
              <a:off x="743903" y="-1923097"/>
              <a:ext cx="10704194" cy="10704194"/>
              <a:chOff x="969646" y="-1697354"/>
              <a:chExt cx="10252709" cy="10252709"/>
            </a:xfrm>
          </p:grpSpPr>
          <p:sp>
            <p:nvSpPr>
              <p:cNvPr id="25" name="Oval 13"/>
              <p:cNvSpPr>
                <a:spLocks noChangeAspect="1"/>
              </p:cNvSpPr>
              <p:nvPr userDrawn="1"/>
            </p:nvSpPr>
            <p:spPr>
              <a:xfrm>
                <a:off x="1925334" y="-741666"/>
                <a:ext cx="8341335" cy="8341335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16"/>
              <p:cNvSpPr>
                <a:spLocks noChangeAspect="1"/>
              </p:cNvSpPr>
              <p:nvPr userDrawn="1"/>
            </p:nvSpPr>
            <p:spPr>
              <a:xfrm>
                <a:off x="1482091" y="-1184909"/>
                <a:ext cx="9227819" cy="9227819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19"/>
              <p:cNvSpPr>
                <a:spLocks noChangeAspect="1"/>
              </p:cNvSpPr>
              <p:nvPr userDrawn="1"/>
            </p:nvSpPr>
            <p:spPr>
              <a:xfrm>
                <a:off x="969646" y="-1697354"/>
                <a:ext cx="10252709" cy="10252709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of Show">
    <p:bg>
      <p:bgPr>
        <a:solidFill>
          <a:schemeClr val="accent6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373399" y="-2973897"/>
            <a:ext cx="12938799" cy="12938799"/>
            <a:chOff x="743903" y="-1923097"/>
            <a:chExt cx="10704194" cy="10704194"/>
          </a:xfrm>
        </p:grpSpPr>
        <p:sp>
          <p:nvSpPr>
            <p:cNvPr id="10" name="Oval 9"/>
            <p:cNvSpPr>
              <a:spLocks noChangeAspect="1"/>
            </p:cNvSpPr>
            <p:nvPr userDrawn="1"/>
          </p:nvSpPr>
          <p:spPr>
            <a:xfrm>
              <a:off x="2100000" y="-567000"/>
              <a:ext cx="7992000" cy="799200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743903" y="-1923097"/>
              <a:ext cx="10704194" cy="10704194"/>
              <a:chOff x="969646" y="-1697354"/>
              <a:chExt cx="10252709" cy="10252709"/>
            </a:xfrm>
          </p:grpSpPr>
          <p:sp>
            <p:nvSpPr>
              <p:cNvPr id="14" name="Oval 13"/>
              <p:cNvSpPr>
                <a:spLocks noChangeAspect="1"/>
              </p:cNvSpPr>
              <p:nvPr userDrawn="1"/>
            </p:nvSpPr>
            <p:spPr>
              <a:xfrm>
                <a:off x="1925334" y="-741666"/>
                <a:ext cx="8341335" cy="8341335"/>
              </a:xfrm>
              <a:prstGeom prst="ellipse">
                <a:avLst/>
              </a:prstGeom>
              <a:noFill/>
              <a:ln w="12700">
                <a:solidFill>
                  <a:schemeClr val="bg2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/>
              <p:cNvSpPr>
                <a:spLocks noChangeAspect="1"/>
              </p:cNvSpPr>
              <p:nvPr userDrawn="1"/>
            </p:nvSpPr>
            <p:spPr>
              <a:xfrm>
                <a:off x="1482091" y="-1184909"/>
                <a:ext cx="9227819" cy="9227819"/>
              </a:xfrm>
              <a:prstGeom prst="ellipse">
                <a:avLst/>
              </a:prstGeom>
              <a:noFill/>
              <a:ln w="12700">
                <a:solidFill>
                  <a:schemeClr val="bg2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/>
              <p:cNvSpPr>
                <a:spLocks noChangeAspect="1"/>
              </p:cNvSpPr>
              <p:nvPr userDrawn="1"/>
            </p:nvSpPr>
            <p:spPr>
              <a:xfrm>
                <a:off x="969646" y="-1697354"/>
                <a:ext cx="10252709" cy="10252709"/>
              </a:xfrm>
              <a:prstGeom prst="ellipse">
                <a:avLst/>
              </a:prstGeom>
              <a:noFill/>
              <a:ln w="12700">
                <a:solidFill>
                  <a:schemeClr val="bg2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AC478CC-BEC2-A348-A483-BD9A535FBECA}" type="slidenum">
              <a:rPr lang="en-US" smtClean="0"/>
            </a:fld>
            <a:endParaRPr lang="en-US"/>
          </a:p>
        </p:txBody>
      </p:sp>
      <p:sp>
        <p:nvSpPr>
          <p:cNvPr id="5" name="Контейнер за заглавие 4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Контейнер за дата 6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42B54-A802-45D1-AA36-14F025B76833}" type="datetimeFigureOut">
              <a:rPr lang="en-US" smtClean="0"/>
            </a:fld>
            <a:endParaRPr lang="en-US"/>
          </a:p>
        </p:txBody>
      </p:sp>
      <p:sp>
        <p:nvSpPr>
          <p:cNvPr id="8" name="Контейнер за долния колонтитул 7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21241" y="215093"/>
            <a:ext cx="2105025" cy="2095500"/>
          </a:xfrm>
          <a:prstGeom prst="flowChartConnector">
            <a:avLst/>
          </a:prstGeom>
        </p:spPr>
      </p:pic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An-Najah National University</a:t>
            </a:r>
            <a:endParaRPr sz="400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978375" y="3762733"/>
            <a:ext cx="8235252" cy="1393693"/>
          </a:xfrm>
        </p:spPr>
        <p:txBody>
          <a:bodyPr/>
          <a:lstStyle/>
          <a:p>
            <a:r>
              <a:rPr lang="en-US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Student: Amr Shawahneh</a:t>
            </a:r>
            <a:endParaRPr lang="en-US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  <a:p>
            <a:r>
              <a:rPr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Professor: Jihad Hamamra</a:t>
            </a:r>
            <a:endParaRPr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  <a:p>
            <a:endParaRPr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620711" y="2739716"/>
            <a:ext cx="8950577" cy="128843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️ Ransomware</a:t>
            </a:r>
            <a:endParaRPr lang="en-US" sz="3600" b="1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71387" y="167842"/>
            <a:ext cx="2178348" cy="2158417"/>
          </a:xfrm>
          <a:prstGeom prst="flowChartConnector">
            <a:avLst/>
          </a:prstGeom>
          <a:solidFill>
            <a:schemeClr val="accent2"/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0" y="721692"/>
            <a:ext cx="7748805" cy="605766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What is Ransomware?</a:t>
            </a:r>
            <a:endParaRPr lang="en-GB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Ransomware is a well-known type of malware that encrypts files or locks an entire system, then demands a ransom—typically in a cryptocurrency </a:t>
            </a:r>
            <a:r>
              <a:rPr lang="ar-EG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</a:t>
            </a:r>
            <a:r>
              <a:rPr lang="en-US" sz="28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like</a:t>
            </a:r>
            <a:r>
              <a:rPr lang="ar-EG" sz="28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 </a:t>
            </a:r>
            <a:r>
              <a:rPr lang="en-US" sz="28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Bitcoin</a:t>
            </a:r>
            <a:r>
              <a:rPr lang="ar-EG" sz="2800" b="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 (</a:t>
            </a: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in exchange for decryption or restoring access.</a:t>
            </a:r>
            <a:endParaRPr lang="en-US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One of the most significant and widespread variants is "</a:t>
            </a:r>
            <a:r>
              <a:rPr lang="en-US" sz="28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LockBit</a:t>
            </a: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," which emerged in 2019 and utilizes "</a:t>
            </a:r>
            <a:r>
              <a:rPr lang="en-US" sz="28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AES-256 + RSA-2048</a:t>
            </a: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" encryption technology.</a:t>
            </a:r>
            <a:endParaRPr lang="en-US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36423" y="1203795"/>
            <a:ext cx="3889270" cy="3675353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0" y="0"/>
            <a:ext cx="6625724" cy="809507"/>
          </a:xfrm>
        </p:spPr>
        <p:txBody>
          <a:bodyPr/>
          <a:lstStyle/>
          <a:p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How does Ransomware work?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0" y="721692"/>
            <a:ext cx="7416241" cy="2947746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1. Delivery phase</a:t>
            </a:r>
            <a:endParaRPr lang="ar-EG" sz="2400" b="1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0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Phishing emails with malicious attachments</a:t>
            </a:r>
            <a:endParaRPr lang="ar-EG" sz="20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0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Software exploits</a:t>
            </a:r>
            <a:endParaRPr lang="ar-EG" sz="20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0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Compromised websites that automatically download malware</a:t>
            </a:r>
            <a:endParaRPr lang="ar-EG" sz="20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0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Infected USB drives, P2P networks, malicious ads</a:t>
            </a:r>
            <a:endParaRPr lang="ar-EG" sz="20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lang="ar-EG" sz="24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  <p:pic>
        <p:nvPicPr>
          <p:cNvPr id="10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669438"/>
            <a:ext cx="12192000" cy="31885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24440" y="5199"/>
            <a:ext cx="7123180" cy="3664240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2. Execution Phase</a:t>
            </a:r>
            <a:endParaRPr lang="ar-EG" sz="3200" b="1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Running malware on the target system</a:t>
            </a:r>
            <a:endParaRPr lang="ar-EG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Hiding from antivirus software</a:t>
            </a:r>
            <a:endParaRPr lang="ar-EG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Gathering system information (region, language, system type)</a:t>
            </a:r>
            <a:endParaRPr lang="ar-EG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440" y="3669439"/>
            <a:ext cx="12192000" cy="31885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24439" y="5199"/>
            <a:ext cx="6071560" cy="326188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3. </a:t>
            </a:r>
            <a:r>
              <a:rPr lang="en-GB" sz="32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Propagation phase</a:t>
            </a:r>
            <a:endParaRPr lang="ar-EG" sz="3200" b="1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Lateral movement across the internal network</a:t>
            </a:r>
            <a:endParaRPr lang="en-US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Exploiting vulnerabilities in other systems</a:t>
            </a:r>
            <a:endParaRPr lang="en-US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Disabling backups before encryption</a:t>
            </a:r>
            <a:endParaRPr lang="en-US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" y="3669438"/>
            <a:ext cx="12192000" cy="3188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0" y="5199"/>
            <a:ext cx="6700734" cy="366423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4. Encryption phase</a:t>
            </a:r>
            <a:endParaRPr lang="en-US" sz="3200" b="1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Encrypt files using strong algorithms (AES-256 + RSA)</a:t>
            </a:r>
            <a:endParaRPr lang="en-US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Add new file extensions (.locked, .encrypted)</a:t>
            </a:r>
            <a:endParaRPr lang="en-US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Leave a ransom note in each folder</a:t>
            </a:r>
            <a:endParaRPr lang="en-US" sz="28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669438"/>
            <a:ext cx="12192000" cy="3188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0" y="-2591"/>
            <a:ext cx="6071560" cy="367202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5. Ransom Phase</a:t>
            </a:r>
            <a:endParaRPr lang="ar-EG" sz="2800" b="1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EG" sz="24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Displaying a ransom note on the desktop</a:t>
            </a:r>
            <a:endParaRPr lang="en-US" sz="24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Demanding payment of a ransom in cryptocurrency (Bitcoin)</a:t>
            </a:r>
            <a:endParaRPr lang="en-US" sz="24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Threatening to release stolen data (double ransom)</a:t>
            </a:r>
            <a:endParaRPr lang="en-US" sz="24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Setting a deadline for payment (usually 48-72 hours)</a:t>
            </a:r>
            <a:endParaRPr lang="en-US" sz="240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669438"/>
            <a:ext cx="12192000" cy="3188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2647703" y="177326"/>
            <a:ext cx="6488425" cy="816869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  <a:highlight>
                  <a:srgbClr val="C0C0C0"/>
                </a:highlight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Ransomware Encryption Mechanism</a:t>
            </a:r>
            <a:endParaRPr lang="ar-EG" sz="2800" b="1" dirty="0">
              <a:solidFill>
                <a:schemeClr val="tx1"/>
              </a:solidFill>
              <a:highlight>
                <a:srgbClr val="C0C0C0"/>
              </a:highlight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  <p:pic>
        <p:nvPicPr>
          <p:cNvPr id="14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23343" y="1442164"/>
            <a:ext cx="8745312" cy="39736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2285530" y="887394"/>
            <a:ext cx="7836656" cy="4223399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Symmetric + Asymmetric Encryption (Hybrid Encryption)</a:t>
            </a:r>
            <a:endParaRPr lang="en-US" sz="2800" b="1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r>
              <a:rPr lang="en-US" sz="2800" b="1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Hybrid Encryption Mechanism</a:t>
            </a:r>
            <a:endParaRPr lang="en-US" sz="2800" b="1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r>
              <a:rPr lang="en-US" sz="2800" b="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For each file that is encrypted:</a:t>
            </a:r>
            <a:endParaRPr lang="en-US" sz="2800" b="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r>
              <a:rPr lang="en-US" sz="2800" b="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1. A random AES-256 key (symmetric key) is generated</a:t>
            </a:r>
            <a:endParaRPr lang="en-US" sz="2800" b="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r>
              <a:rPr lang="en-US" sz="2800" b="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2. The file is encrypted using AES-256-CTR or ChaCha20</a:t>
            </a:r>
            <a:endParaRPr lang="en-US" sz="2800" b="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r>
              <a:rPr lang="en-US" sz="2800" b="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3. The AES key is encrypted using the attacker's RSA public key</a:t>
            </a:r>
            <a:endParaRPr lang="en-US" sz="2800" b="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r>
              <a:rPr lang="en-US" sz="2800" b="0" dirty="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4. The encrypted key is added to the end of the encrypted file</a:t>
            </a:r>
            <a:endParaRPr lang="en-US" sz="2800" b="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Result: Decryption is impossible without the attacker's RSA private key</a:t>
            </a:r>
            <a:endParaRPr lang="en-US" sz="2800" b="1" dirty="0">
              <a:solidFill>
                <a:schemeClr val="tx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endParaRPr lang="en-US" sz="2800" b="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0" indent="0">
              <a:buNone/>
            </a:pPr>
            <a:endParaRPr lang="en-US" sz="2800" b="0" dirty="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/>
          <p:nvPr/>
        </p:nvSpPr>
        <p:spPr>
          <a:xfrm>
            <a:off x="3498939" y="348679"/>
            <a:ext cx="5194124" cy="57372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en-GB" sz="2400" b="1" dirty="0">
                <a:solidFill>
                  <a:schemeClr val="bg2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Ransomware Defense Strategies</a:t>
            </a:r>
            <a:endParaRPr lang="en-US" sz="2400" b="1" dirty="0">
              <a:solidFill>
                <a:schemeClr val="bg2"/>
              </a:solidFill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81501" y="1223918"/>
            <a:ext cx="8229000" cy="45966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234269" y="2168804"/>
            <a:ext cx="7723462" cy="3188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4400" b="1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Level One: Discovery early</a:t>
            </a:r>
            <a:endParaRPr lang="ar-EG" sz="4400" b="1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Threat Detection Systems (EDR, SIEM)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Honeypot System (Canary Files)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Entropy Monitoring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Detection of Files with Suspicious Extensions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1766882" y="2123863"/>
            <a:ext cx="9080681" cy="2578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4400" b="1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Level Two: Rapid Response</a:t>
            </a:r>
            <a:endParaRPr lang="ar-EG" sz="4400" b="1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Immediate containment (isolating compromised systems) 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Cryptogram analysis and type identification 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Stopping lateral spread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234269" y="2168804"/>
            <a:ext cx="7723462" cy="3188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4400" b="1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Level Three: Safe Recovery</a:t>
            </a:r>
            <a:endParaRPr lang="ar-EG" sz="4400" b="1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Verifying the integrity of backups 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Restoring systems from clean copies 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Formatting the restore process 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bg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Post-incident improvements</a:t>
            </a:r>
            <a:endParaRPr lang="en-US" sz="4000">
              <a:solidFill>
                <a:schemeClr val="bg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0" y="0"/>
            <a:ext cx="9671632" cy="1231953"/>
          </a:xfrm>
        </p:spPr>
        <p:txBody>
          <a:bodyPr/>
          <a:lstStyle/>
          <a:p>
            <a:r>
              <a:rPr b="1">
                <a:solidFill>
                  <a:schemeClr val="tx2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Ransomware Defense</a:t>
            </a:r>
            <a:endParaRPr b="1">
              <a:solidFill>
                <a:schemeClr val="tx2"/>
              </a:solidFill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950576"/>
            <a:ext cx="12192000" cy="48035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0" y="1064818"/>
            <a:ext cx="9671632" cy="4728365"/>
          </a:xfrm>
        </p:spPr>
        <p:txBody>
          <a:bodyPr/>
          <a:lstStyle/>
          <a:p>
            <a:r>
              <a:rPr b="1">
                <a:solidFill>
                  <a:schemeClr val="tx1"/>
                </a:solidFill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Ransomware Defense Best Practices</a:t>
            </a:r>
            <a:endParaRPr b="1">
              <a:solidFill>
                <a:schemeClr val="tx1"/>
              </a:solidFill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lang="en-US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Regular backups (3-2-1-1-0 Backup)</a:t>
            </a:r>
            <a:endParaRPr lang="en-US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Enable MFA on all accounts </a:t>
            </a:r>
            <a:endParaRPr lang="en-US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Implement the Principle of Least Privilege</a:t>
            </a:r>
            <a:endParaRPr lang="en-US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Use EDR / SIEM</a:t>
            </a:r>
            <a:endParaRPr lang="en-US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Use a Honeypot system for early detection </a:t>
            </a:r>
            <a:endParaRPr lang="en-US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978374" y="2639207"/>
            <a:ext cx="8235252" cy="2400372"/>
          </a:xfrm>
        </p:spPr>
        <p:txBody>
          <a:bodyPr/>
          <a:lstStyle/>
          <a:p>
            <a:r>
              <a:rPr sz="24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Having considered the concept of ransomware, the stages of confrontation, and the three best defense strategies, we now move to the practical side. The following 10 skills represent a practical application of everything explained theoretically, covering all stages of ransomware defense: stress, compensation, recovery, and analysis.</a:t>
            </a:r>
            <a:endParaRPr sz="2400" b="1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89957" y="125210"/>
            <a:ext cx="2358605" cy="2257288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7722285" cy="1231953"/>
          </a:xfrm>
        </p:spPr>
        <p:txBody>
          <a:bodyPr/>
          <a:lstStyle/>
          <a:p>
            <a:r>
              <a:rPr sz="24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 Skill 1: Ransomware Tabletop Exercise Template</a:t>
            </a:r>
            <a:endParaRPr sz="24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10050231" cy="3180988"/>
          </a:xfrm>
        </p:spPr>
        <p:txBody>
          <a:bodyPr/>
          <a:lstStyle/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Conduct a ransomware attack simulation exercise with the security and leadership team. This exercise tests preparedness and interdepartmental coordination without the use of technology.</a:t>
            </a:r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lang="ar-EG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lang="ar-EG"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A scenario involving a ransomware attack (</a:t>
            </a:r>
            <a:r>
              <a:rPr lang="ar-EG" sz="24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such as LockBit</a:t>
            </a:r>
            <a:r>
              <a:rPr lang="ar-EG"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 is presented. The decisions to be made at each stage of the attack are explained, and the decisions and lessons learned are documented.</a:t>
            </a:r>
            <a:endParaRPr lang="ar-EG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8845810" cy="1231953"/>
          </a:xfrm>
        </p:spPr>
        <p:txBody>
          <a:bodyPr/>
          <a:lstStyle/>
          <a:p>
            <a:r>
              <a:rPr sz="28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 Skill 2: Ransomware Playbook Automation Agent</a:t>
            </a:r>
            <a:endParaRPr sz="28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9205340" cy="3180988"/>
          </a:xfrm>
        </p:spPr>
        <p:txBody>
          <a:bodyPr/>
          <a:lstStyle/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Developing an AI agent that prints out ransomware incident patterns, mimicking tools like CrowdStrike, Splunk, and MalwareBazaar.</a:t>
            </a:r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lang="ar-EG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lang="ar-EG"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It selects its target audience (</a:t>
            </a:r>
            <a:r>
              <a:rPr lang="ar-EG" sz="24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a process that can take hours</a:t>
            </a:r>
            <a:r>
              <a:rPr lang="ar-EG"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), and the agent automatically executes all steps in seconds, recording each step in the organizer's report.</a:t>
            </a:r>
            <a:endParaRPr lang="ar-EG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9582844" cy="1231953"/>
          </a:xfrm>
        </p:spPr>
        <p:txBody>
          <a:bodyPr/>
          <a:lstStyle/>
          <a:p>
            <a:r>
              <a:rPr sz="28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 Skill 3: Ransomware Honeypot Deployment Template</a:t>
            </a:r>
            <a:endParaRPr sz="28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10301900" cy="3189976"/>
          </a:xfrm>
        </p:spPr>
        <p:txBody>
          <a:bodyPr/>
          <a:lstStyle/>
          <a:p>
            <a:r>
              <a:rPr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Deploy a honeypot (</a:t>
            </a:r>
            <a:r>
              <a:rPr sz="28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fake access</a:t>
            </a:r>
            <a:r>
              <a:rPr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 system to detect ransomware attacks using canary files that are triggered when a ransomware attack occurs.</a:t>
            </a:r>
            <a:br>
              <a:rPr lang="en-US"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</a:br>
            <a:br>
              <a:rPr lang="en-US"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</a:br>
            <a:r>
              <a:rPr lang="en-US"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Dummy files are placed in sensitive folders (</a:t>
            </a:r>
            <a:r>
              <a:rPr lang="en-US" sz="28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such as Finance, HR</a:t>
            </a:r>
            <a:r>
              <a:rPr lang="en-US"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). These files are not used by any employee. If an employee accesses them, it means the attack is present and immediately free.</a:t>
            </a:r>
            <a:endParaRPr sz="28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7731273" cy="1231953"/>
          </a:xfrm>
        </p:spPr>
        <p:txBody>
          <a:bodyPr/>
          <a:lstStyle/>
          <a:p>
            <a:r>
              <a:rPr sz="32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Skill 4: Ransomware Response Agent</a:t>
            </a:r>
            <a:endParaRPr sz="32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10499640" cy="3531528"/>
          </a:xfrm>
        </p:spPr>
        <p:txBody>
          <a:bodyPr/>
          <a:lstStyle/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To develop an intelligent agent (</a:t>
            </a:r>
            <a:r>
              <a:rPr sz="24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AI agent</a:t>
            </a:r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 for a structured ransomware incident response, performing six key tasks from ransomware identification to report generation.</a:t>
            </a:r>
            <a:endParaRPr lang="en-US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lang="en-US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lang="en-US"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The agent automates the entire response process from start to finish: identifying the ransomware type, verifying decryption tools, assessing the impact, creating a containment list, developing a recovery plan, and generating a comprehensive report.</a:t>
            </a:r>
            <a:endParaRPr lang="en-US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7866096" cy="1231953"/>
          </a:xfrm>
        </p:spPr>
        <p:txBody>
          <a:bodyPr/>
          <a:lstStyle/>
          <a:p>
            <a:r>
              <a:rPr sz="28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 Skill 5: Performing Ransomware Response</a:t>
            </a:r>
            <a:endParaRPr sz="28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9780583" cy="3127059"/>
          </a:xfrm>
        </p:spPr>
        <p:txBody>
          <a:bodyPr/>
          <a:lstStyle/>
          <a:p>
            <a:r>
              <a:rPr lang="en-US"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I</a:t>
            </a:r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mplementing a structured ransomware incident response from detection to post-incident improvements, with a practical application of the SANS PICERL framework.</a:t>
            </a:r>
            <a:endParaRPr lang="en-US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lang="en-US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lang="en-US"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This skill puts into practice what is explained theoretically in defense strategies. All phases of the response are implemented: detection, containment, impact assessment, decision-making, recovery, and recovery.</a:t>
            </a:r>
            <a:endParaRPr lang="en-US"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11191731" cy="1231953"/>
          </a:xfrm>
        </p:spPr>
        <p:txBody>
          <a:bodyPr/>
          <a:lstStyle/>
          <a:p>
            <a:r>
              <a:rPr sz="28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Skill 6: Ransomware Recovery Orchestration and Tracking Tool</a:t>
            </a:r>
            <a:endParaRPr sz="28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10706369" cy="3702303"/>
          </a:xfrm>
        </p:spPr>
        <p:txBody>
          <a:bodyPr/>
          <a:lstStyle/>
          <a:p>
            <a:r>
              <a:rPr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To coordinate and track the system recovery process after a ransomware attack, managing dependencies and monitoring compliance with RTO (</a:t>
            </a:r>
            <a:r>
              <a:rPr sz="28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Recovery Time Objective</a:t>
            </a:r>
            <a:r>
              <a:rPr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 standards.</a:t>
            </a:r>
            <a:endParaRPr lang="en-US" sz="28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lang="en-US" sz="28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lang="en-US"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Recovering systems after a ransomware attack is a complex process. Some systems depend on others and must be restored in a specific order. This agent organizes this process and tracks its progress.</a:t>
            </a:r>
            <a:endParaRPr lang="en-US" sz="28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9097480" cy="1231953"/>
          </a:xfrm>
        </p:spPr>
        <p:txBody>
          <a:bodyPr/>
          <a:lstStyle/>
          <a:p>
            <a:r>
              <a:rPr sz="32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Skill 7: Ransomware Backup Strategy Audit</a:t>
            </a:r>
            <a:endParaRPr sz="32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9510938" cy="2920330"/>
          </a:xfrm>
        </p:spPr>
        <p:txBody>
          <a:bodyPr/>
          <a:lstStyle/>
          <a:p>
            <a:r>
              <a:rPr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Auditing your </a:t>
            </a:r>
            <a:r>
              <a:rPr sz="28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AWS</a:t>
            </a:r>
            <a:r>
              <a:rPr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 backup strategy to ensure it's resilient against ransomware attacks.</a:t>
            </a:r>
            <a:endParaRPr sz="28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sz="28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sz="28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Backups are the last line of defense against ransomware. But what if the backups themselves are encrypted or corrupted? This skill checks six key aspects to ensure backup integrity.</a:t>
            </a:r>
            <a:endParaRPr sz="28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8522234" cy="1231953"/>
          </a:xfrm>
        </p:spPr>
        <p:txBody>
          <a:bodyPr/>
          <a:lstStyle/>
          <a:p>
            <a:r>
              <a:rPr sz="28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Skill 8: Ransomware Encryption Analysis Report</a:t>
            </a:r>
            <a:endParaRPr sz="28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9906418" cy="3306823"/>
          </a:xfrm>
        </p:spPr>
        <p:txBody>
          <a:bodyPr/>
          <a:lstStyle/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Analyze the encryption mechanism used in a ransomware attack and assess the possibility of decryption to determine the best path to recovery.</a:t>
            </a:r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Not all ransomware attacks are created equal. Some use strong encryption, while others contain vulnerabilities that can be exploited. This skill analyzes the encryption mechanism and provides recommendations for recovery.</a:t>
            </a:r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9385104" cy="1231953"/>
          </a:xfrm>
        </p:spPr>
        <p:txBody>
          <a:bodyPr/>
          <a:lstStyle/>
          <a:p>
            <a:r>
              <a:rPr sz="2800" b="1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 Skill 9: Investigating Ransomware Attack Artifacts</a:t>
            </a:r>
            <a:endParaRPr sz="2800" b="1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8836823" cy="3127059"/>
          </a:xfrm>
        </p:spPr>
        <p:txBody>
          <a:bodyPr/>
          <a:lstStyle/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Investigating ransomware attack artifacts and extracting indicators of compromise (</a:t>
            </a:r>
            <a:r>
              <a:rPr sz="24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IOCs</a:t>
            </a:r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 from ransomware notes and encrypted files.</a:t>
            </a:r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Ransomware notes and encrypted files contain valuable information that can be used to understand the attack and prevent future attacks. This skill extracts and organizes this information.</a:t>
            </a:r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29668" y="1214196"/>
            <a:ext cx="8764918" cy="1231953"/>
          </a:xfrm>
        </p:spPr>
        <p:txBody>
          <a:bodyPr/>
          <a:lstStyle/>
          <a:p>
            <a:r>
              <a:rPr sz="280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Skill 10: Testing Ransomware Recovery Procedures</a:t>
            </a:r>
            <a:endParaRPr sz="280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729668" y="2932790"/>
            <a:ext cx="8908730" cy="3163012"/>
          </a:xfrm>
        </p:spPr>
        <p:txBody>
          <a:bodyPr/>
          <a:lstStyle/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Testing and verifying data recovery procedures after a ransomware attack, with actual RTO (</a:t>
            </a:r>
            <a:r>
              <a:rPr sz="24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Recovery Time Objective</a:t>
            </a:r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 and RPO (</a:t>
            </a:r>
            <a:r>
              <a:rPr sz="2400" b="1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Recovery Point Objective</a:t>
            </a:r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) calculations.</a:t>
            </a:r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  <a:p>
            <a:r>
              <a:rPr sz="2400">
                <a:latin typeface="Arabic Typesetting" panose="03020402040406030203" pitchFamily="66" charset="0"/>
                <a:ea typeface="Arabic Typesetting" panose="03020402040406030203" pitchFamily="66" charset="0"/>
                <a:cs typeface="Arabic Typesetting" panose="03020402040406030203" pitchFamily="66" charset="0"/>
              </a:rPr>
              <a:t>Backups alone are not enough; they must be tested regularly to ensure they are recoverable. This skill performs a comprehensive test of recovery procedures.</a:t>
            </a:r>
            <a:endParaRPr sz="2400">
              <a:latin typeface="Arabic Typesetting" panose="03020402040406030203" pitchFamily="66" charset="0"/>
              <a:ea typeface="Arabic Typesetting" panose="03020402040406030203" pitchFamily="66" charset="0"/>
              <a:cs typeface="Arabic Typesetting" panose="03020402040406030203" pitchFamily="66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978374" y="2635629"/>
            <a:ext cx="8235253" cy="973844"/>
          </a:xfrm>
        </p:spPr>
        <p:txBody>
          <a:bodyPr/>
          <a:lstStyle/>
          <a:p>
            <a:r>
              <a:rPr sz="5400"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</a:rPr>
              <a:t>Thank you</a:t>
            </a:r>
            <a:endParaRPr sz="5400">
              <a:latin typeface="Comic Sans MS" panose="030F0702030302020204" pitchFamily="66" charset="0"/>
              <a:ea typeface="Comic Sans MS" panose="030F0702030302020204" pitchFamily="66" charset="0"/>
              <a:cs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55615" y="143187"/>
            <a:ext cx="2363095" cy="2285253"/>
          </a:xfrm>
          <a:prstGeom prst="flowChartConnector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owcase">
  <a:themeElements>
    <a:clrScheme name="Showcase Col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2B2B2"/>
      </a:accent1>
      <a:accent2>
        <a:srgbClr val="808080"/>
      </a:accent2>
      <a:accent3>
        <a:srgbClr val="5F5F5F"/>
      </a:accent3>
      <a:accent4>
        <a:srgbClr val="333333"/>
      </a:accent4>
      <a:accent5>
        <a:srgbClr val="1C1C1C"/>
      </a:accent5>
      <a:accent6>
        <a:srgbClr val="080808"/>
      </a:accent6>
      <a:hlink>
        <a:srgbClr val="0563C1"/>
      </a:hlink>
      <a:folHlink>
        <a:srgbClr val="954F72"/>
      </a:folHlink>
    </a:clrScheme>
    <a:fontScheme name="По избор 4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6681</Words>
  <Application>WPS Presentation</Application>
  <PresentationFormat>Widescreen</PresentationFormat>
  <Paragraphs>149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SimSun</vt:lpstr>
      <vt:lpstr>Wingdings</vt:lpstr>
      <vt:lpstr>Comic Sans MS</vt:lpstr>
      <vt:lpstr>Arabic Typesetting</vt:lpstr>
      <vt:lpstr>Calibri</vt:lpstr>
      <vt:lpstr>Microsoft YaHei</vt:lpstr>
      <vt:lpstr>Arial Unicode MS</vt:lpstr>
      <vt:lpstr>Showcase</vt:lpstr>
      <vt:lpstr>An-Najah National University</vt:lpstr>
      <vt:lpstr>🛡️ Ransomware: The most destructive digital threat</vt:lpstr>
      <vt:lpstr>PowerPoint 演示文稿</vt:lpstr>
      <vt:lpstr>PowerPoint 演示文稿</vt:lpstr>
      <vt:lpstr>How does Ransomware work?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Ransomware Defense</vt:lpstr>
      <vt:lpstr>Use a Honeypot system for early detection </vt:lpstr>
      <vt:lpstr>PowerPoint 演示文稿</vt:lpstr>
      <vt:lpstr> Skill 1: Ransomware Tabletop Exercise Template</vt:lpstr>
      <vt:lpstr> Skill 2: Ransomware Playbook Automation Agent</vt:lpstr>
      <vt:lpstr> Skill 3: Ransomware Honeypot Deployment Template</vt:lpstr>
      <vt:lpstr>Skill 4: Ransomware Response Agent</vt:lpstr>
      <vt:lpstr> Skill 5: Performing Ransomware Response</vt:lpstr>
      <vt:lpstr>Skill 6: Ransomware Recovery Orchestration and Tracking Tool</vt:lpstr>
      <vt:lpstr>Skill 7: Ransomware Backup Strategy Audit</vt:lpstr>
      <vt:lpstr>Skill 8: Ransomware Encryption Analysis Report</vt:lpstr>
      <vt:lpstr> Skill 9: Investigating Ransomware Attack Artifacts</vt:lpstr>
      <vt:lpstr>Skill 10: Testing Ransomware Recovery Procedures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3</cp:revision>
  <dcterms:created xsi:type="dcterms:W3CDTF">2020-10-29T12:40:00Z</dcterms:created>
  <dcterms:modified xsi:type="dcterms:W3CDTF">2026-08-09T08:36:27Z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2C3CED6E28FB4787BB9DA00FB9FF6301_12</vt:lpwstr>
  </property>
</Properties>
</file>